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8221" autoAdjust="0"/>
  </p:normalViewPr>
  <p:slideViewPr>
    <p:cSldViewPr snapToGrid="0">
      <p:cViewPr>
        <p:scale>
          <a:sx n="81" d="100"/>
          <a:sy n="81" d="100"/>
        </p:scale>
        <p:origin x="-30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9F92C-78E2-40CE-BB5A-92AFF6B02FE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685EE-F267-49CD-8F7F-3F81D5360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2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5/29/2025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Programming</a:t>
            </a:r>
            <a:br>
              <a:rPr lang="en-US" dirty="0"/>
            </a:br>
            <a:r>
              <a:rPr lang="en-US" dirty="0" smtClean="0"/>
              <a:t>SOLD PRINCIPLES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7343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SOLID Principles in Software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Introduction to SOLID Principles</a:t>
            </a:r>
          </a:p>
          <a:p>
            <a:r>
              <a:rPr lang="en-US" b="1" dirty="0"/>
              <a:t>1. Significance of Software Design Principles</a:t>
            </a:r>
          </a:p>
          <a:p>
            <a:r>
              <a:rPr lang="en-US" dirty="0"/>
              <a:t>Software design principles help developers:</a:t>
            </a:r>
          </a:p>
          <a:p>
            <a:pPr lvl="1"/>
            <a:r>
              <a:rPr lang="en-US" dirty="0"/>
              <a:t>Write </a:t>
            </a:r>
            <a:r>
              <a:rPr lang="en-US" b="1" dirty="0"/>
              <a:t>clean, maintainable, and scalable</a:t>
            </a:r>
            <a:r>
              <a:rPr lang="en-US" dirty="0"/>
              <a:t> code.</a:t>
            </a:r>
          </a:p>
          <a:p>
            <a:pPr lvl="1"/>
            <a:r>
              <a:rPr lang="en-US" dirty="0"/>
              <a:t>Make software </a:t>
            </a:r>
            <a:r>
              <a:rPr lang="en-US" b="1" dirty="0"/>
              <a:t>robust against changes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Avoid </a:t>
            </a:r>
            <a:r>
              <a:rPr lang="en-US" b="1" dirty="0"/>
              <a:t>code smells</a:t>
            </a:r>
            <a:r>
              <a:rPr lang="en-US" dirty="0"/>
              <a:t>, such as tight coupling or poor cohesion.</a:t>
            </a:r>
          </a:p>
          <a:p>
            <a:pPr lvl="1"/>
            <a:r>
              <a:rPr lang="en-US" dirty="0"/>
              <a:t>Enhance </a:t>
            </a:r>
            <a:r>
              <a:rPr lang="en-US" b="1" dirty="0"/>
              <a:t>testability and reuse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53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SOLID?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171" y="1570423"/>
            <a:ext cx="10058400" cy="4050792"/>
          </a:xfrm>
        </p:spPr>
        <p:txBody>
          <a:bodyPr/>
          <a:lstStyle/>
          <a:p>
            <a:r>
              <a:rPr lang="en-US" b="1" dirty="0" smtClean="0"/>
              <a:t>SOLID</a:t>
            </a:r>
            <a:r>
              <a:rPr lang="en-US" dirty="0" smtClean="0"/>
              <a:t> </a:t>
            </a:r>
            <a:r>
              <a:rPr lang="en-US" dirty="0"/>
              <a:t>is an acronym for five core principles:</a:t>
            </a:r>
          </a:p>
          <a:p>
            <a:r>
              <a:rPr lang="en-US" b="1" dirty="0"/>
              <a:t>S</a:t>
            </a:r>
            <a:r>
              <a:rPr lang="en-US" dirty="0"/>
              <a:t>: Single Responsibility Principle (SRP)</a:t>
            </a:r>
          </a:p>
          <a:p>
            <a:r>
              <a:rPr lang="en-US" b="1" dirty="0"/>
              <a:t>O</a:t>
            </a:r>
            <a:r>
              <a:rPr lang="en-US" dirty="0"/>
              <a:t>: Open-Closed Principle (OCP)</a:t>
            </a:r>
          </a:p>
          <a:p>
            <a:r>
              <a:rPr lang="en-US" b="1" dirty="0"/>
              <a:t>L</a:t>
            </a:r>
            <a:r>
              <a:rPr lang="en-US" dirty="0"/>
              <a:t>: </a:t>
            </a:r>
            <a:r>
              <a:rPr lang="en-US" dirty="0" err="1"/>
              <a:t>Liskov</a:t>
            </a:r>
            <a:r>
              <a:rPr lang="en-US" dirty="0"/>
              <a:t> Substitution Principle (LSP)</a:t>
            </a:r>
          </a:p>
          <a:p>
            <a:r>
              <a:rPr lang="en-US" b="1" dirty="0"/>
              <a:t>I</a:t>
            </a:r>
            <a:r>
              <a:rPr lang="en-US" dirty="0"/>
              <a:t>: Interface Segregation Principle (ISP)</a:t>
            </a:r>
          </a:p>
          <a:p>
            <a:r>
              <a:rPr lang="en-US" b="1" dirty="0"/>
              <a:t>D</a:t>
            </a:r>
            <a:r>
              <a:rPr lang="en-US" dirty="0"/>
              <a:t>: Dependency Inversion Principle (DIP)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5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Single Responsibility Principle (SRP)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A class should have </a:t>
            </a:r>
            <a:r>
              <a:rPr lang="en-US" b="1" dirty="0"/>
              <a:t>only one reason to change</a:t>
            </a:r>
            <a:r>
              <a:rPr lang="en-US" dirty="0"/>
              <a:t>, meaning it should only have </a:t>
            </a:r>
            <a:r>
              <a:rPr lang="en-US" b="1" dirty="0"/>
              <a:t>one job or responsibility</a:t>
            </a:r>
            <a:r>
              <a:rPr lang="en-US" dirty="0" smtClean="0"/>
              <a:t>.</a:t>
            </a:r>
          </a:p>
          <a:p>
            <a:r>
              <a:rPr lang="en-US" dirty="0"/>
              <a:t>SRP Violation </a:t>
            </a:r>
            <a:r>
              <a:rPr lang="en-US" dirty="0" smtClean="0"/>
              <a:t>Example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/>
              <a:t>Problem</a:t>
            </a:r>
            <a:r>
              <a:rPr lang="en-US" dirty="0"/>
              <a:t>: Report class is responsible for both report generation and file storage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071" y="3616569"/>
            <a:ext cx="64579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151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Single Responsibility Principle (SRP)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SRP-Compliant Code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093" y="2577610"/>
            <a:ext cx="58578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180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Open-Closed Principle (OCP)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Software entities (classes, modules, functions, etc.) should be </a:t>
            </a:r>
            <a:r>
              <a:rPr lang="en-US" b="1" dirty="0"/>
              <a:t>open for extension but closed for modification</a:t>
            </a:r>
            <a:r>
              <a:rPr lang="en-US" dirty="0" smtClean="0"/>
              <a:t>.</a:t>
            </a:r>
          </a:p>
          <a:p>
            <a:r>
              <a:rPr lang="en-US" dirty="0"/>
              <a:t>Use </a:t>
            </a:r>
            <a:r>
              <a:rPr lang="en-US" b="1" dirty="0"/>
              <a:t>abstractions</a:t>
            </a:r>
            <a:r>
              <a:rPr lang="en-US" dirty="0"/>
              <a:t> and </a:t>
            </a:r>
            <a:r>
              <a:rPr lang="en-US" b="1" dirty="0"/>
              <a:t>polymorphism</a:t>
            </a:r>
            <a:r>
              <a:rPr lang="en-US" dirty="0"/>
              <a:t> to extend behavior without changing existing code</a:t>
            </a:r>
            <a:r>
              <a:rPr lang="en-US" dirty="0" smtClean="0"/>
              <a:t>.</a:t>
            </a:r>
          </a:p>
          <a:p>
            <a:r>
              <a:rPr lang="en-US" dirty="0"/>
              <a:t>OCP </a:t>
            </a:r>
            <a:r>
              <a:rPr lang="en-US" dirty="0" smtClean="0"/>
              <a:t>Violation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4292844"/>
            <a:ext cx="47529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60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725" y="156386"/>
            <a:ext cx="10058400" cy="1609344"/>
          </a:xfrm>
        </p:spPr>
        <p:txBody>
          <a:bodyPr/>
          <a:lstStyle/>
          <a:p>
            <a:r>
              <a:rPr lang="en-US" dirty="0"/>
              <a:t>2. Open-Closed Principle (OCP)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7787" y="1500085"/>
            <a:ext cx="10058400" cy="4050792"/>
          </a:xfrm>
        </p:spPr>
        <p:txBody>
          <a:bodyPr/>
          <a:lstStyle/>
          <a:p>
            <a:r>
              <a:rPr lang="en-US" dirty="0"/>
              <a:t>OCP-Compliant </a:t>
            </a:r>
            <a:r>
              <a:rPr lang="en-US" dirty="0" smtClean="0"/>
              <a:t>Code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372" y="1863970"/>
            <a:ext cx="5953490" cy="4818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89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/>
              <a:t>3. </a:t>
            </a:r>
            <a:r>
              <a:rPr lang="fr-FR" sz="4800" b="1" dirty="0" err="1"/>
              <a:t>Liskov</a:t>
            </a:r>
            <a:r>
              <a:rPr lang="fr-FR" sz="4800" b="1" dirty="0"/>
              <a:t> Substitution </a:t>
            </a:r>
            <a:r>
              <a:rPr lang="fr-FR" sz="4800" b="1" dirty="0" err="1"/>
              <a:t>Principle</a:t>
            </a:r>
            <a:r>
              <a:rPr lang="fr-FR" sz="4800" b="1" dirty="0"/>
              <a:t> (LSP)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Subtypes must be </a:t>
            </a:r>
            <a:r>
              <a:rPr lang="en-US" b="1" dirty="0"/>
              <a:t>substitutable</a:t>
            </a:r>
            <a:r>
              <a:rPr lang="en-US" dirty="0"/>
              <a:t> for their base types without breaking the functionality</a:t>
            </a:r>
            <a:r>
              <a:rPr lang="en-US" dirty="0" smtClean="0"/>
              <a:t>.</a:t>
            </a:r>
          </a:p>
          <a:p>
            <a:r>
              <a:rPr lang="en-US" dirty="0"/>
              <a:t>The </a:t>
            </a:r>
            <a:r>
              <a:rPr lang="en-US" dirty="0" err="1"/>
              <a:t>Liskov</a:t>
            </a:r>
            <a:r>
              <a:rPr lang="en-US" dirty="0"/>
              <a:t> Substitution Principle (LSP) is a fundamental principle in object-oriented programming that states that objects of a superclass should be able to be replaced with objects of a subclass without affecting the correctness of the program. This principle is named after Barbara </a:t>
            </a:r>
            <a:r>
              <a:rPr lang="en-US" dirty="0" err="1"/>
              <a:t>Liskov</a:t>
            </a:r>
            <a:r>
              <a:rPr lang="en-US" dirty="0"/>
              <a:t>, who first formulated it in a 1987 paper.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04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</a:t>
            </a:r>
            <a:r>
              <a:rPr lang="en-US" b="1" dirty="0" smtClean="0"/>
              <a:t>1: LSP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679" y="1347685"/>
            <a:ext cx="10058400" cy="4050792"/>
          </a:xfrm>
        </p:spPr>
        <p:txBody>
          <a:bodyPr/>
          <a:lstStyle/>
          <a:p>
            <a:r>
              <a:rPr lang="en-US" dirty="0" smtClean="0"/>
              <a:t>Here</a:t>
            </a:r>
            <a:r>
              <a:rPr lang="en-US" dirty="0"/>
              <a:t>, Green is a base super class of Blue. When a new object of Blue will be assigned in object of Super class, </a:t>
            </a:r>
            <a:r>
              <a:rPr lang="en-US" b="1" dirty="0" err="1"/>
              <a:t>getColor</a:t>
            </a:r>
            <a:r>
              <a:rPr lang="en-US" b="1" dirty="0"/>
              <a:t>() </a:t>
            </a:r>
            <a:r>
              <a:rPr lang="en-US" dirty="0"/>
              <a:t>of Green will be replaced by </a:t>
            </a:r>
            <a:r>
              <a:rPr lang="en-US" b="1" dirty="0" err="1"/>
              <a:t>getColor</a:t>
            </a:r>
            <a:r>
              <a:rPr lang="en-US" b="1" dirty="0"/>
              <a:t>() </a:t>
            </a:r>
            <a:r>
              <a:rPr lang="en-US" dirty="0"/>
              <a:t>of Blue according to inheritance rules of OOP. In this situation, we are expecting “Green” color from </a:t>
            </a:r>
            <a:r>
              <a:rPr lang="en-US" b="1" dirty="0"/>
              <a:t>Green </a:t>
            </a:r>
            <a:r>
              <a:rPr lang="en-US" dirty="0"/>
              <a:t>class but we are getting “Blue” color from </a:t>
            </a:r>
            <a:r>
              <a:rPr lang="en-US" b="1" dirty="0"/>
              <a:t>Green </a:t>
            </a:r>
            <a:r>
              <a:rPr lang="en-US" dirty="0"/>
              <a:t>color. So the design of class is violating the LSP.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774" y="2860431"/>
            <a:ext cx="455698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67754" y="334247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the main method, green object is asking for color but it’s getting “Blue” color. How to solve the issue. See the </a:t>
            </a:r>
            <a:r>
              <a:rPr lang="en-US" dirty="0" smtClean="0"/>
              <a:t>solution in the next slide.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3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Solution of LSP Violation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627" y="1406768"/>
            <a:ext cx="6191250" cy="5087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759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Interface </a:t>
            </a:r>
            <a:r>
              <a:rPr lang="en-US" dirty="0"/>
              <a:t>Segregation Principle (ISP)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Interface Segregation Principle (ISP) suggests that a class should not be forced to implement methods it doesn’t need. In other words, a class should have small, focused interfaces rather than large, monolithic ones. This helps to avoid unnecessary dependencies and ensures that classes only implement the methods they actually need.</a:t>
            </a:r>
          </a:p>
          <a:p>
            <a:r>
              <a:rPr lang="en-US" dirty="0"/>
              <a:t>ISP </a:t>
            </a:r>
            <a:r>
              <a:rPr lang="en-US" dirty="0" smtClean="0"/>
              <a:t>Violation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125" y="3810000"/>
            <a:ext cx="52482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1628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Interface </a:t>
            </a:r>
            <a:r>
              <a:rPr lang="en-US" dirty="0"/>
              <a:t>Segregation Principle (ISP)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018" y="2480531"/>
            <a:ext cx="5173906" cy="4248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0812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Dependency Inversion Principle (DIP)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6104675" cy="4050792"/>
          </a:xfrm>
        </p:spPr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High-level modules should not depend on low-level modules. Both should depend on </a:t>
            </a:r>
            <a:r>
              <a:rPr lang="en-US" b="1" dirty="0"/>
              <a:t>abstractions</a:t>
            </a:r>
            <a:r>
              <a:rPr lang="en-US" dirty="0"/>
              <a:t>.</a:t>
            </a:r>
          </a:p>
          <a:p>
            <a:r>
              <a:rPr lang="en-US" dirty="0" smtClean="0"/>
              <a:t>Use </a:t>
            </a:r>
            <a:r>
              <a:rPr lang="en-US" dirty="0"/>
              <a:t>Dependency Injection (DI) to implement this principle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DIP Violation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621" y="3853228"/>
            <a:ext cx="475297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66893" y="1476893"/>
            <a:ext cx="440787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How is DIP violated?</a:t>
            </a:r>
          </a:p>
          <a:p>
            <a:r>
              <a:rPr lang="en-US" dirty="0"/>
              <a:t>Notification directly </a:t>
            </a:r>
            <a:r>
              <a:rPr lang="en-US" b="1" dirty="0"/>
              <a:t>depends on a concrete class</a:t>
            </a:r>
            <a:r>
              <a:rPr lang="en-US" dirty="0"/>
              <a:t>, </a:t>
            </a:r>
            <a:r>
              <a:rPr lang="en-US" dirty="0" err="1"/>
              <a:t>EmailService</a:t>
            </a:r>
            <a:r>
              <a:rPr lang="en-US" dirty="0"/>
              <a:t>.</a:t>
            </a:r>
          </a:p>
          <a:p>
            <a:r>
              <a:rPr lang="en-US" dirty="0"/>
              <a:t>There's </a:t>
            </a:r>
            <a:r>
              <a:rPr lang="en-US" b="1" dirty="0"/>
              <a:t>no abstraction (like an interface)</a:t>
            </a:r>
            <a:r>
              <a:rPr lang="en-US" dirty="0"/>
              <a:t> between them.</a:t>
            </a:r>
          </a:p>
          <a:p>
            <a:r>
              <a:rPr lang="en-US" dirty="0"/>
              <a:t>This tight coupling means: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cannot easily swap out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 for something else (e.g., </a:t>
            </a:r>
            <a:r>
              <a:rPr lang="en-US" dirty="0" err="1"/>
              <a:t>SmsService</a:t>
            </a:r>
            <a:r>
              <a:rPr lang="en-US" dirty="0"/>
              <a:t>, </a:t>
            </a:r>
            <a:r>
              <a:rPr lang="en-US" dirty="0" err="1"/>
              <a:t>MockEmailService</a:t>
            </a:r>
            <a:r>
              <a:rPr lang="en-US" dirty="0"/>
              <a:t> for testing).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cannot reuse or extend</a:t>
            </a:r>
            <a:r>
              <a:rPr lang="en-US" dirty="0"/>
              <a:t> the Notification class in different contexts without modifying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330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DIP-Compliant </a:t>
            </a:r>
            <a:r>
              <a:rPr lang="en-US" b="1" dirty="0"/>
              <a:t>Code</a:t>
            </a:r>
            <a:br>
              <a:rPr lang="en-US" b="1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874368" y="621324"/>
            <a:ext cx="30831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Introduce an </a:t>
            </a:r>
            <a:r>
              <a:rPr lang="en-US" b="1" dirty="0"/>
              <a:t>interface</a:t>
            </a:r>
            <a:r>
              <a:rPr lang="en-US" dirty="0"/>
              <a:t> (abstraction) that </a:t>
            </a:r>
            <a:r>
              <a:rPr lang="en-US" dirty="0" err="1"/>
              <a:t>EmailService</a:t>
            </a:r>
            <a:r>
              <a:rPr lang="en-US" dirty="0"/>
              <a:t> implements, and inject it into Notification.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3" y="1409700"/>
            <a:ext cx="37433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340" y="3185747"/>
            <a:ext cx="40957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947" y="3327523"/>
            <a:ext cx="4714875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3339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990817"/>
              </p:ext>
            </p:extLst>
          </p:nvPr>
        </p:nvGraphicFramePr>
        <p:xfrm>
          <a:off x="964467" y="2366987"/>
          <a:ext cx="10058400" cy="164592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Original </a:t>
                      </a:r>
                      <a:r>
                        <a:rPr lang="en-US" dirty="0"/>
                        <a:t>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DIP-Compliant </a:t>
                      </a:r>
                      <a:r>
                        <a:rPr lang="en-US" dirty="0"/>
                        <a:t>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Tight coupling (Notification depends on </a:t>
                      </a:r>
                      <a:r>
                        <a:rPr lang="en-US" dirty="0" err="1"/>
                        <a:t>EmailService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Loosely coupled (Notification depends on </a:t>
                      </a:r>
                      <a:r>
                        <a:rPr lang="en-US" dirty="0" err="1"/>
                        <a:t>IMessageService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Hard to change notification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Easy to extend (add SMS, push notifications,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393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1996463"/>
            <a:ext cx="7516080" cy="356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09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1512</TotalTime>
  <Words>599</Words>
  <Application>Microsoft Office PowerPoint</Application>
  <PresentationFormat>Custom</PresentationFormat>
  <Paragraphs>68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Wood Type</vt:lpstr>
      <vt:lpstr>Visual Programming SOLD PRINCIPLES</vt:lpstr>
      <vt:lpstr>Understanding the SOLID Principles in Software Design </vt:lpstr>
      <vt:lpstr>What is SOLID? </vt:lpstr>
      <vt:lpstr>1. Single Responsibility Principle (SRP)</vt:lpstr>
      <vt:lpstr>1. Single Responsibility Principle (SRP)</vt:lpstr>
      <vt:lpstr>2. Open-Closed Principle (OCP)</vt:lpstr>
      <vt:lpstr>2. Open-Closed Principle (OCP)</vt:lpstr>
      <vt:lpstr>3. Liskov Substitution Principle (LSP)</vt:lpstr>
      <vt:lpstr>Example 1: LSP </vt:lpstr>
      <vt:lpstr>Solution of LSP Violation </vt:lpstr>
      <vt:lpstr>4. Interface Segregation Principle (ISP)</vt:lpstr>
      <vt:lpstr>4. Interface Segregation Principle (ISP)</vt:lpstr>
      <vt:lpstr>5. Dependency Inversion Principle (DIP)</vt:lpstr>
      <vt:lpstr> DIP-Compliant Code  </vt:lpstr>
      <vt:lpstr>Comparison</vt:lpstr>
      <vt:lpstr>Summary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Programming Databases in Blazor (with ADO.NET focus)</dc:title>
  <dc:creator>Test</dc:creator>
  <cp:lastModifiedBy>Ehtisham UL Haq</cp:lastModifiedBy>
  <cp:revision>74</cp:revision>
  <dcterms:created xsi:type="dcterms:W3CDTF">2025-04-22T17:38:41Z</dcterms:created>
  <dcterms:modified xsi:type="dcterms:W3CDTF">2025-05-29T08:28:28Z</dcterms:modified>
</cp:coreProperties>
</file>